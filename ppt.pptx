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B7FE-B471-4058-98F8-B003F4360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649" y="539875"/>
            <a:ext cx="8825658" cy="77793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D3013-6213-4CFB-8712-E9D1F31F5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49" y="1479177"/>
            <a:ext cx="10418480" cy="4607858"/>
          </a:xfrm>
        </p:spPr>
        <p:txBody>
          <a:bodyPr>
            <a:noAutofit/>
          </a:bodyPr>
          <a:lstStyle/>
          <a:p>
            <a:r>
              <a:rPr lang="en-US" sz="2800" dirty="0"/>
              <a:t>Swift Route  Logistics  needs a centralized system to analyze delivery operations across hubs, drivers, and vehicles.</a:t>
            </a:r>
          </a:p>
          <a:p>
            <a:r>
              <a:rPr lang="en-US" sz="2800" dirty="0"/>
              <a:t>Currently, it is difficult to track key metrics such as total orders, on-time delivery rate, customer satisfaction, and delivery time. The objective of this project is to develop an interactive </a:t>
            </a:r>
            <a:r>
              <a:rPr lang="en-US" sz="2800" b="1" dirty="0"/>
              <a:t>Power BI dashboard</a:t>
            </a:r>
            <a:r>
              <a:rPr lang="en-US" sz="2800" dirty="0"/>
              <a:t> that provides insights into operational performance and supports better decision-making.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836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0967-74C4-4924-9A4C-2ECB7595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4261-8207-4FAC-837B-1BC56130E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109634" cy="3815229"/>
          </a:xfrm>
        </p:spPr>
        <p:txBody>
          <a:bodyPr>
            <a:normAutofit/>
          </a:bodyPr>
          <a:lstStyle/>
          <a:p>
            <a:r>
              <a:rPr lang="en-US" dirty="0"/>
              <a:t>Swift Route Logistics handles a large number of deliveries through multiple </a:t>
            </a:r>
            <a:r>
              <a:rPr lang="en-US" b="1" dirty="0"/>
              <a:t>hubs, drivers, and vehicles</a:t>
            </a:r>
            <a:r>
              <a:rPr lang="en-US" dirty="0"/>
              <a:t>. However, the objective is to get a power </a:t>
            </a:r>
            <a:r>
              <a:rPr lang="en-US" dirty="0" err="1"/>
              <a:t>bI</a:t>
            </a:r>
            <a:r>
              <a:rPr lang="en-US" dirty="0"/>
              <a:t> dashboard build to track and visualize the logistics parameters such as :</a:t>
            </a:r>
          </a:p>
          <a:p>
            <a:r>
              <a:rPr lang="en-US" dirty="0"/>
              <a:t>Tracking </a:t>
            </a:r>
            <a:r>
              <a:rPr lang="en-US" b="1" dirty="0"/>
              <a:t>total orders and delivery trends</a:t>
            </a:r>
            <a:r>
              <a:rPr lang="en-US" dirty="0"/>
              <a:t> over time</a:t>
            </a:r>
          </a:p>
          <a:p>
            <a:r>
              <a:rPr lang="en-US" dirty="0"/>
              <a:t>Monitoring </a:t>
            </a:r>
            <a:r>
              <a:rPr lang="en-US" b="1" dirty="0"/>
              <a:t>on-time delivery performance</a:t>
            </a:r>
            <a:r>
              <a:rPr lang="en-US" dirty="0"/>
              <a:t> and identifying delays</a:t>
            </a:r>
          </a:p>
          <a:p>
            <a:r>
              <a:rPr lang="en-US" dirty="0"/>
              <a:t>Measuring </a:t>
            </a:r>
            <a:r>
              <a:rPr lang="en-US" b="1" dirty="0"/>
              <a:t>customer satisfaction (CSAT)</a:t>
            </a:r>
            <a:r>
              <a:rPr lang="en-US" dirty="0"/>
              <a:t> levels</a:t>
            </a:r>
          </a:p>
          <a:p>
            <a:r>
              <a:rPr lang="en-US" dirty="0"/>
              <a:t>Analyzing </a:t>
            </a:r>
            <a:r>
              <a:rPr lang="en-US" b="1" dirty="0"/>
              <a:t>average delivery time</a:t>
            </a:r>
            <a:r>
              <a:rPr lang="en-US" dirty="0"/>
              <a:t> across operations</a:t>
            </a:r>
          </a:p>
          <a:p>
            <a:r>
              <a:rPr lang="en-US" dirty="0"/>
              <a:t>Evaluating </a:t>
            </a:r>
            <a:r>
              <a:rPr lang="en-US" b="1" dirty="0"/>
              <a:t>hub performance and capacity utilization</a:t>
            </a:r>
            <a:endParaRPr lang="en-US" dirty="0"/>
          </a:p>
          <a:p>
            <a:r>
              <a:rPr lang="en-US" dirty="0"/>
              <a:t>Assessing </a:t>
            </a:r>
            <a:r>
              <a:rPr lang="en-US" b="1" dirty="0"/>
              <a:t>driver performance, experience, and delay patterns</a:t>
            </a:r>
            <a:endParaRPr lang="en-US" dirty="0"/>
          </a:p>
          <a:p>
            <a:r>
              <a:rPr lang="en-US" dirty="0"/>
              <a:t>Monitoring </a:t>
            </a:r>
            <a:r>
              <a:rPr lang="en-US" b="1" dirty="0"/>
              <a:t>vehicle utilization, breakdowns 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37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CDB6-6B8B-474F-8A42-DA53F682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5EC0-11EB-4DD0-A1E1-1E6CC2919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1"/>
            <a:ext cx="10230222" cy="41200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dataset used in this project represents the </a:t>
            </a:r>
            <a:r>
              <a:rPr lang="en-US" b="1" dirty="0"/>
              <a:t>logistics operations of Swift Route Logistics</a:t>
            </a:r>
            <a:r>
              <a:rPr lang="en-US" dirty="0"/>
              <a:t> for the years </a:t>
            </a:r>
            <a:r>
              <a:rPr lang="en-US" b="1" dirty="0"/>
              <a:t>2023 and 2024</a:t>
            </a:r>
            <a:r>
              <a:rPr lang="en-US" dirty="0"/>
              <a:t>. It contains delivery data related to </a:t>
            </a:r>
            <a:r>
              <a:rPr lang="en-US" b="1" dirty="0"/>
              <a:t>orders, drivers, vehicles, and distribution hubs</a:t>
            </a:r>
            <a:r>
              <a:rPr lang="en-US" dirty="0"/>
              <a:t>.</a:t>
            </a:r>
          </a:p>
          <a:p>
            <a:r>
              <a:rPr lang="en-US" dirty="0"/>
              <a:t>The dataset consists of </a:t>
            </a:r>
            <a:r>
              <a:rPr lang="en-US" b="1" dirty="0"/>
              <a:t>4 interconnected tables</a:t>
            </a:r>
            <a:r>
              <a:rPr lang="en-US" dirty="0"/>
              <a:t>:</a:t>
            </a:r>
          </a:p>
          <a:p>
            <a:r>
              <a:rPr lang="en-US" b="1" dirty="0"/>
              <a:t>Orders Table (27,979 records):</a:t>
            </a:r>
            <a:r>
              <a:rPr lang="en-US" dirty="0"/>
              <a:t> Contains core delivery information such as order dates, delivery time, driver details, hub information, vehicle used, delay status, and customer satisfaction score.</a:t>
            </a:r>
          </a:p>
          <a:p>
            <a:r>
              <a:rPr lang="en-US" b="1" dirty="0"/>
              <a:t>Drivers Table (55 records):</a:t>
            </a:r>
            <a:r>
              <a:rPr lang="en-US" dirty="0"/>
              <a:t> Includes driver-related details such as driver ID, name, employment type, hire date, experience, and performance rating.</a:t>
            </a:r>
          </a:p>
          <a:p>
            <a:r>
              <a:rPr lang="en-US" b="1" dirty="0"/>
              <a:t>Vehicles Table (45 records):</a:t>
            </a:r>
            <a:r>
              <a:rPr lang="en-US" dirty="0"/>
              <a:t> Provides fleet information including vehicle model, purchase date, vehicle status, breakdown records, and maintenance alerts.</a:t>
            </a:r>
          </a:p>
          <a:p>
            <a:r>
              <a:rPr lang="en-US" b="1" dirty="0"/>
              <a:t>Hubs Table (6 records):</a:t>
            </a:r>
            <a:r>
              <a:rPr lang="en-US" dirty="0"/>
              <a:t> Contains information about distribution hubs including hub ID, hub name, and hub capacity.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69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14E8-C117-496F-80F1-CCBD52C6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Modelling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B10C2-86BE-4604-8955-7377D1920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124" y="2603499"/>
            <a:ext cx="7566652" cy="370765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A0B864-0308-4488-9E02-E6550F0FD8F0}"/>
              </a:ext>
            </a:extLst>
          </p:cNvPr>
          <p:cNvSpPr/>
          <p:nvPr/>
        </p:nvSpPr>
        <p:spPr>
          <a:xfrm>
            <a:off x="9843247" y="2017059"/>
            <a:ext cx="2088777" cy="42940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/>
              <a:t>·  </a:t>
            </a:r>
            <a:r>
              <a:rPr lang="en-IN" sz="1200" b="1" dirty="0"/>
              <a:t>Orders to Drivers</a:t>
            </a:r>
            <a:br>
              <a:rPr lang="en-IN" sz="1200" dirty="0"/>
            </a:br>
            <a:r>
              <a:rPr lang="en-IN" sz="1200" dirty="0"/>
              <a:t>Connected using </a:t>
            </a:r>
            <a:r>
              <a:rPr lang="en-IN" sz="1200" b="1" dirty="0"/>
              <a:t>Driver ID</a:t>
            </a:r>
            <a:r>
              <a:rPr lang="en-IN" sz="1200" dirty="0"/>
              <a:t> to link each order with the driver responsible for the delivery.</a:t>
            </a:r>
          </a:p>
          <a:p>
            <a:endParaRPr lang="en-IN" sz="1200" dirty="0"/>
          </a:p>
          <a:p>
            <a:r>
              <a:rPr lang="en-IN" sz="1200" dirty="0"/>
              <a:t>·  </a:t>
            </a:r>
            <a:r>
              <a:rPr lang="en-IN" sz="1200" b="1" dirty="0"/>
              <a:t>Orders to Hubs</a:t>
            </a:r>
            <a:br>
              <a:rPr lang="en-IN" sz="1200" dirty="0"/>
            </a:br>
            <a:r>
              <a:rPr lang="en-IN" sz="1200" dirty="0"/>
              <a:t>Connected using </a:t>
            </a:r>
            <a:r>
              <a:rPr lang="en-IN" sz="1200" b="1" dirty="0"/>
              <a:t>Hub Name</a:t>
            </a:r>
            <a:r>
              <a:rPr lang="en-IN" sz="1200" dirty="0"/>
              <a:t> to identify which distribution </a:t>
            </a:r>
            <a:r>
              <a:rPr lang="en-IN" sz="1200" dirty="0" err="1"/>
              <a:t>hubprocessed</a:t>
            </a:r>
            <a:r>
              <a:rPr lang="en-IN" sz="1200" dirty="0"/>
              <a:t> the order.</a:t>
            </a:r>
          </a:p>
          <a:p>
            <a:endParaRPr lang="en-IN" sz="1200" dirty="0"/>
          </a:p>
          <a:p>
            <a:r>
              <a:rPr lang="en-IN" sz="1200" dirty="0"/>
              <a:t>·  </a:t>
            </a:r>
            <a:r>
              <a:rPr lang="en-IN" sz="1200" b="1" dirty="0"/>
              <a:t>Orders to Vehicles</a:t>
            </a:r>
            <a:br>
              <a:rPr lang="en-IN" sz="1200" dirty="0"/>
            </a:br>
            <a:r>
              <a:rPr lang="en-IN" sz="1200" dirty="0"/>
              <a:t>Connected using </a:t>
            </a:r>
            <a:r>
              <a:rPr lang="en-IN" sz="1200" b="1" dirty="0"/>
              <a:t>Vehicle Name / Vehicle Code</a:t>
            </a:r>
            <a:r>
              <a:rPr lang="en-IN" sz="1200" dirty="0"/>
              <a:t> to determine which vehicle was used for the delivery.</a:t>
            </a:r>
          </a:p>
          <a:p>
            <a:endParaRPr lang="en-IN" sz="1200" dirty="0"/>
          </a:p>
          <a:p>
            <a:r>
              <a:rPr lang="en-IN" sz="1200" dirty="0"/>
              <a:t>·  </a:t>
            </a:r>
            <a:r>
              <a:rPr lang="en-IN" sz="1200" b="1" dirty="0"/>
              <a:t>Orders to Date Table </a:t>
            </a:r>
            <a:br>
              <a:rPr lang="en-IN" sz="1200" dirty="0"/>
            </a:br>
            <a:r>
              <a:rPr lang="en-IN" sz="1200" dirty="0"/>
              <a:t>Connected using </a:t>
            </a:r>
            <a:r>
              <a:rPr lang="en-IN" sz="1200" b="1" dirty="0"/>
              <a:t>Date</a:t>
            </a:r>
            <a:r>
              <a:rPr lang="en-IN" sz="1200" dirty="0"/>
              <a:t> to link each on the basis of order date.</a:t>
            </a:r>
          </a:p>
          <a:p>
            <a:r>
              <a:rPr lang="en-IN" sz="1200" dirty="0"/>
              <a:t> </a:t>
            </a:r>
          </a:p>
          <a:p>
            <a:pPr algn="ctr"/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278692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B4A4C-179F-419B-BB51-08ECA759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KPIs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505D-832D-440B-BE83-37027135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5281705" cy="3680759"/>
          </a:xfrm>
        </p:spPr>
        <p:txBody>
          <a:bodyPr>
            <a:normAutofit fontScale="32500" lnSpcReduction="20000"/>
          </a:bodyPr>
          <a:lstStyle/>
          <a:p>
            <a:r>
              <a:rPr lang="en-IN" sz="2500" b="1" dirty="0"/>
              <a:t>1. Total Orders</a:t>
            </a:r>
          </a:p>
          <a:p>
            <a:pPr lvl="0"/>
            <a:r>
              <a:rPr lang="en-IN" sz="2500" dirty="0"/>
              <a:t>        Total number of orders for the selected Year and Month</a:t>
            </a:r>
          </a:p>
          <a:p>
            <a:pPr lvl="0"/>
            <a:r>
              <a:rPr lang="en-IN" sz="2500" dirty="0"/>
              <a:t>         Total orders for the Previous Month</a:t>
            </a:r>
          </a:p>
          <a:p>
            <a:pPr lvl="0"/>
            <a:r>
              <a:rPr lang="en-IN" sz="2500" dirty="0"/>
              <a:t>         Month-over-Month (MoM) growth / decline % in total orders</a:t>
            </a:r>
          </a:p>
          <a:p>
            <a:r>
              <a:rPr lang="en-IN" sz="2500" b="1" dirty="0"/>
              <a:t>2. On-Time Delivery Rate (%)</a:t>
            </a:r>
          </a:p>
          <a:p>
            <a:pPr lvl="0"/>
            <a:r>
              <a:rPr lang="en-IN" sz="2500" dirty="0"/>
              <a:t>          On-time delivery percentage for the selected Year and Month</a:t>
            </a:r>
          </a:p>
          <a:p>
            <a:pPr lvl="0"/>
            <a:r>
              <a:rPr lang="en-IN" sz="2500" dirty="0"/>
              <a:t>          On-time delivery percentage for the Previous Month</a:t>
            </a:r>
          </a:p>
          <a:p>
            <a:pPr lvl="0"/>
            <a:r>
              <a:rPr lang="en-IN" sz="2500" dirty="0"/>
              <a:t>          MoM change (%) in on-time delivery rate</a:t>
            </a:r>
          </a:p>
          <a:p>
            <a:r>
              <a:rPr lang="en-IN" sz="2500" b="1" dirty="0"/>
              <a:t>3. Customer Satisfaction Score (CSAT %)</a:t>
            </a:r>
          </a:p>
          <a:p>
            <a:pPr lvl="0"/>
            <a:r>
              <a:rPr lang="en-IN" sz="2500" dirty="0"/>
              <a:t>         Overall CSAT % for the selected Year and Month</a:t>
            </a:r>
          </a:p>
          <a:p>
            <a:pPr lvl="0"/>
            <a:r>
              <a:rPr lang="en-IN" sz="2500" dirty="0"/>
              <a:t>          CSAT % for the Previous Month</a:t>
            </a:r>
          </a:p>
          <a:p>
            <a:pPr lvl="0"/>
            <a:r>
              <a:rPr lang="en-IN" sz="2500" dirty="0"/>
              <a:t>          MoM change (%) in customer satisfaction</a:t>
            </a:r>
          </a:p>
          <a:p>
            <a:r>
              <a:rPr lang="en-IN" sz="2500" b="1" dirty="0"/>
              <a:t>4. Average Delivery Time (Hours)</a:t>
            </a:r>
          </a:p>
          <a:p>
            <a:pPr lvl="0"/>
            <a:r>
              <a:rPr lang="en-IN" sz="2500" dirty="0"/>
              <a:t>         Average delivery time (in hours) for the selected Year and Month</a:t>
            </a:r>
          </a:p>
          <a:p>
            <a:pPr lvl="0"/>
            <a:r>
              <a:rPr lang="en-IN" sz="2500" dirty="0"/>
              <a:t>         Average delivery time for the Previous Month</a:t>
            </a:r>
          </a:p>
          <a:p>
            <a:pPr lvl="0"/>
            <a:r>
              <a:rPr lang="en-IN" sz="2500" dirty="0"/>
              <a:t>         MoM change (%) in average delivery duration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43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1BD7-821F-4D45-8345-7A4FE8A0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 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EB092-339A-47CB-A99B-C27A8B61F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707" y="2304054"/>
            <a:ext cx="8498540" cy="4258110"/>
          </a:xfrm>
        </p:spPr>
      </p:pic>
    </p:spTree>
    <p:extLst>
      <p:ext uri="{BB962C8B-B14F-4D97-AF65-F5344CB8AC3E}">
        <p14:creationId xmlns:p14="http://schemas.microsoft.com/office/powerpoint/2010/main" val="102355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F409-2302-40B9-A795-B758D254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from Hubs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D944C-B1B4-4F3B-9E44-D0D5700F2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658" y="2603500"/>
            <a:ext cx="4186517" cy="3774186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1D5BF2-DDEA-4E2E-AF4A-33182D29C0F1}"/>
              </a:ext>
            </a:extLst>
          </p:cNvPr>
          <p:cNvSpPr/>
          <p:nvPr/>
        </p:nvSpPr>
        <p:spPr>
          <a:xfrm>
            <a:off x="6813175" y="2321860"/>
            <a:ext cx="4760261" cy="4419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/>
              <a:t>1. Total Number of Hubs</a:t>
            </a:r>
            <a:endParaRPr lang="en-IN" sz="1400" dirty="0"/>
          </a:p>
          <a:p>
            <a:pPr lvl="0"/>
            <a:r>
              <a:rPr lang="en-IN" sz="1400" b="1" dirty="0"/>
              <a:t>Chart Used:</a:t>
            </a:r>
            <a:r>
              <a:rPr lang="en-IN" sz="1400" dirty="0"/>
              <a:t> KPI Card</a:t>
            </a:r>
          </a:p>
          <a:p>
            <a:pPr lvl="0"/>
            <a:r>
              <a:rPr lang="en-IN" sz="1400" b="1" dirty="0"/>
              <a:t>Business Use Case:</a:t>
            </a:r>
            <a:br>
              <a:rPr lang="en-IN" sz="1400" dirty="0"/>
            </a:br>
            <a:r>
              <a:rPr lang="en-IN" sz="1400" dirty="0"/>
              <a:t>Provides quick visibility into the total operational hubs to assess network size and coverage.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2. Orders Processed vs Hub Capacity</a:t>
            </a:r>
            <a:endParaRPr lang="en-IN" sz="1400" dirty="0"/>
          </a:p>
          <a:p>
            <a:pPr lvl="0"/>
            <a:r>
              <a:rPr lang="en-IN" sz="1400" b="1" dirty="0"/>
              <a:t>Chart Used:</a:t>
            </a:r>
            <a:r>
              <a:rPr lang="en-IN" sz="1400" dirty="0"/>
              <a:t> Clustered Column Chart</a:t>
            </a:r>
          </a:p>
          <a:p>
            <a:pPr lvl="0"/>
            <a:r>
              <a:rPr lang="en-IN" sz="1400" b="1" dirty="0"/>
              <a:t>Business Use Case:</a:t>
            </a:r>
            <a:br>
              <a:rPr lang="en-IN" sz="1400" dirty="0"/>
            </a:br>
            <a:r>
              <a:rPr lang="en-IN" sz="1400" dirty="0"/>
              <a:t>Helps identify hubs operating above or below capacity, enabling better workload distribution and capacity planning.</a:t>
            </a:r>
          </a:p>
          <a:p>
            <a:pPr lvl="0"/>
            <a:endParaRPr lang="en-IN" sz="1400" dirty="0"/>
          </a:p>
          <a:p>
            <a:r>
              <a:rPr lang="en-IN" sz="1400" b="1" dirty="0"/>
              <a:t>3. Hub Performance Ranking</a:t>
            </a:r>
            <a:endParaRPr lang="en-IN" sz="1400" dirty="0"/>
          </a:p>
          <a:p>
            <a:pPr lvl="0"/>
            <a:r>
              <a:rPr lang="en-IN" sz="1400" b="1" dirty="0"/>
              <a:t>Chart Used:</a:t>
            </a:r>
            <a:r>
              <a:rPr lang="en-IN" sz="1400" dirty="0"/>
              <a:t> Bar Chart (Ranked)</a:t>
            </a:r>
          </a:p>
          <a:p>
            <a:pPr lvl="0"/>
            <a:r>
              <a:rPr lang="en-IN" sz="1400" b="1" dirty="0"/>
              <a:t>Business Use Case:</a:t>
            </a:r>
            <a:br>
              <a:rPr lang="en-IN" sz="1400" dirty="0"/>
            </a:br>
            <a:r>
              <a:rPr lang="en-IN" sz="1400" dirty="0"/>
              <a:t>Enables comparison of hub efficiency and helps management identify top-performing and underperforming hubs.</a:t>
            </a:r>
          </a:p>
          <a:p>
            <a:pPr algn="ctr"/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209460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B8B2-EB0A-4B91-80F0-BE3681EF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from Drivers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241BEF-2A84-4BD3-AD33-8D140F14B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4989" y="2644588"/>
            <a:ext cx="4607611" cy="3899647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DBE124-44B5-4C68-BDE2-AFA50DB8AFA6}"/>
              </a:ext>
            </a:extLst>
          </p:cNvPr>
          <p:cNvSpPr/>
          <p:nvPr/>
        </p:nvSpPr>
        <p:spPr>
          <a:xfrm>
            <a:off x="6642600" y="2214282"/>
            <a:ext cx="4563283" cy="44644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1. Number of Drivers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KPI Card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Provides visibility into the total active drivers to support workforce planning and capacity assessment.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2. Experience vs Rating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Scatter Plot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Analyses the relationship between driver experience and performance rating to identify skill gaps and training needs.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3. Drivers with Most Delays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Bar Chart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Identifies drivers contributing to the highest number of delays, enabling targeted coaching and performance improvement.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06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E29F-F333-43EA-A87C-D789C63E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from Vehicles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2CAFB-EE4C-46A1-967F-4B18F9E69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2941" y="2630394"/>
            <a:ext cx="2918071" cy="3922806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E34F43-7C65-4671-AE2F-D5DB3D52165C}"/>
              </a:ext>
            </a:extLst>
          </p:cNvPr>
          <p:cNvSpPr/>
          <p:nvPr/>
        </p:nvSpPr>
        <p:spPr>
          <a:xfrm>
            <a:off x="5172577" y="2384611"/>
            <a:ext cx="4258294" cy="41685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/>
              <a:t>1. Number of Vehicles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KPI Card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Displays the total fleet size to support high-level fleet capacity and planning decisions.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2. Active Vehicles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Donut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Shows the number of vehicles currently active to monitor fleet availability and operational readiness.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3. Total Orders by Vehicle Model</a:t>
            </a:r>
            <a:endParaRPr lang="en-IN" sz="1200" dirty="0"/>
          </a:p>
          <a:p>
            <a:pPr lvl="0"/>
            <a:r>
              <a:rPr lang="en-IN" sz="1200" b="1" dirty="0"/>
              <a:t>Chart Used:</a:t>
            </a:r>
            <a:r>
              <a:rPr lang="en-IN" sz="1200" dirty="0"/>
              <a:t> Bar Chart</a:t>
            </a:r>
          </a:p>
          <a:p>
            <a:pPr lvl="0"/>
            <a:r>
              <a:rPr lang="en-IN" sz="1200" b="1" dirty="0"/>
              <a:t>Business Use Case:</a:t>
            </a:r>
            <a:br>
              <a:rPr lang="en-IN" sz="1200" dirty="0"/>
            </a:br>
            <a:r>
              <a:rPr lang="en-IN" sz="1200" dirty="0"/>
              <a:t>Compares order volumes handled by different vehicle models to identify high-utilization vehicles and optimize fleet usage.</a:t>
            </a:r>
          </a:p>
          <a:p>
            <a:r>
              <a:rPr lang="en-US" dirty="0"/>
              <a:t> 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16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6A85-D9DD-40AB-82F9-2520C9BB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Impacts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61197B-B2F5-4381-A0E6-C09DE3023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589" y="2181188"/>
            <a:ext cx="1170790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Delivery Performance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on-time delivery rates helps identify delays and improve delivery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Hub Capacity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of orders processed vs hub capacity helps optimize workload distribution across hubs.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Driver Performance Monitoring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 driver experience, ratings, and delay patterns helps identify training needs and improve driver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Fleet Utilization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into vehicle usage, breakdowns, and maintenance alerts help improve fleet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Customer Satisfaction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CSAT scores and delivery times helps improve customer experience and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dashboards allow management to quickly analyze trends and take strategic actions to improve logistics.</a:t>
            </a:r>
          </a:p>
        </p:txBody>
      </p:sp>
    </p:spTree>
    <p:extLst>
      <p:ext uri="{BB962C8B-B14F-4D97-AF65-F5344CB8AC3E}">
        <p14:creationId xmlns:p14="http://schemas.microsoft.com/office/powerpoint/2010/main" val="237565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650A-F52D-469B-85A8-8FA86DFA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CCA6-CB79-47E7-A918-AACBCB0AA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571752" cy="2900829"/>
          </a:xfrm>
        </p:spPr>
        <p:txBody>
          <a:bodyPr/>
          <a:lstStyle/>
          <a:p>
            <a:r>
              <a:rPr lang="en-US" dirty="0"/>
              <a:t>Integrate </a:t>
            </a:r>
            <a:r>
              <a:rPr lang="en-US" b="1" dirty="0"/>
              <a:t>real-time data</a:t>
            </a:r>
            <a:r>
              <a:rPr lang="en-US" dirty="0"/>
              <a:t> to track deliveries, drivers, and vehicles instantly.</a:t>
            </a:r>
          </a:p>
          <a:p>
            <a:r>
              <a:rPr lang="en-US" dirty="0"/>
              <a:t>Use </a:t>
            </a:r>
            <a:r>
              <a:rPr lang="en-US" b="1" dirty="0"/>
              <a:t>predictive analytics</a:t>
            </a:r>
            <a:r>
              <a:rPr lang="en-US" dirty="0"/>
              <a:t> to forecast delivery delays and demand trends.</a:t>
            </a:r>
          </a:p>
          <a:p>
            <a:r>
              <a:rPr lang="en-US" dirty="0"/>
              <a:t>Implement </a:t>
            </a:r>
            <a:r>
              <a:rPr lang="en-US" b="1" dirty="0"/>
              <a:t>route optimization</a:t>
            </a:r>
            <a:r>
              <a:rPr lang="en-US" dirty="0"/>
              <a:t> to reduce delivery time and fuel costs.</a:t>
            </a:r>
          </a:p>
          <a:p>
            <a:r>
              <a:rPr lang="en-US" dirty="0"/>
              <a:t>Add </a:t>
            </a:r>
            <a:r>
              <a:rPr lang="en-US" b="1" dirty="0"/>
              <a:t>geographical maps</a:t>
            </a:r>
            <a:r>
              <a:rPr lang="en-US" dirty="0"/>
              <a:t> to visualize hub performance and delivery locations.</a:t>
            </a:r>
          </a:p>
          <a:p>
            <a:r>
              <a:rPr lang="en-US" dirty="0"/>
              <a:t>Develop </a:t>
            </a:r>
            <a:r>
              <a:rPr lang="en-US" b="1" dirty="0"/>
              <a:t>automated alerts</a:t>
            </a:r>
            <a:r>
              <a:rPr lang="en-US" dirty="0"/>
              <a:t> for vehicle maintenance, hub overload, and delayed orders.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186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119</TotalTime>
  <Words>1022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Problem Statement</vt:lpstr>
      <vt:lpstr>Project Objective</vt:lpstr>
      <vt:lpstr>Dataset Overview</vt:lpstr>
      <vt:lpstr>Data Modelling </vt:lpstr>
      <vt:lpstr>Important KPIs </vt:lpstr>
      <vt:lpstr>Dash Board Overview</vt:lpstr>
      <vt:lpstr>Key Insights from Hubs Overview</vt:lpstr>
      <vt:lpstr>Key Insights from Drivers Overview</vt:lpstr>
      <vt:lpstr>Key Insights from Vehicles Overview</vt:lpstr>
      <vt:lpstr>Key Business Impacts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12</cp:revision>
  <dcterms:created xsi:type="dcterms:W3CDTF">2026-03-07T15:35:42Z</dcterms:created>
  <dcterms:modified xsi:type="dcterms:W3CDTF">2026-03-07T17:35:24Z</dcterms:modified>
</cp:coreProperties>
</file>